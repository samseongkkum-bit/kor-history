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20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와 발표 순서" id="{EA76C13F-14E2-80DD-0CF3-14C61310DFC9}">
          <p14:sldIdLst>
            <p14:sldId id="256"/>
            <p14:sldId id="257"/>
          </p14:sldIdLst>
        </p14:section>
        <p14:section name="왜 만들었나" id="{ABC8E107-6941-FB49-6CB3-463BD9764362}">
          <p14:sldIdLst>
            <p14:sldId id="269"/>
            <p14:sldId id="258"/>
          </p14:sldIdLst>
        </p14:section>
        <p14:section name="프로젝트 소개" id="{EE9C6CFE-58EA-30CD-91F5-B0A12AA75BE6}">
          <p14:sldIdLst>
            <p14:sldId id="259"/>
            <p14:sldId id="260"/>
            <p14:sldId id="261"/>
            <p14:sldId id="262"/>
            <p14:sldId id="263"/>
          </p14:sldIdLst>
        </p14:section>
        <p14:section name="목적" id="{53C884C5-A3A1-4C8A-F010-2D9F2A09020D}">
          <p14:sldIdLst>
            <p14:sldId id="264"/>
          </p14:sldIdLst>
        </p14:section>
        <p14:section name="의의" id="{9C4FC371-1F37-9305-88EE-DC59D1BE93B4}">
          <p14:sldIdLst>
            <p14:sldId id="265"/>
            <p14:sldId id="266"/>
          </p14:sldIdLst>
        </p14:section>
        <p14:section name="기대 효과와 마무리" id="{61F23469-8661-1FEF-B288-13BBF998E5C7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1등급 비율(%)</c:v>
                </c:pt>
              </c:strCache>
            </c:strRef>
          </c:tx>
          <c:dPt>
            <c:idx val="0"/>
            <c:spPr>
              <a:solidFill>
                <a:srgbClr val="1F5F5B"/>
              </a:solidFill>
            </c:spPr>
          </c:dPt>
          <c:dPt>
            <c:idx val="1"/>
            <c:spPr>
              <a:solidFill>
                <a:srgbClr val="1F5F5B"/>
              </a:solidFill>
            </c:spPr>
          </c:dPt>
          <c:dPt>
            <c:idx val="2"/>
            <c:spPr>
              <a:solidFill>
                <a:srgbClr val="1F5F5B"/>
              </a:solidFill>
            </c:spPr>
          </c:dPt>
          <c:dPt>
            <c:idx val="3"/>
            <c:spPr>
              <a:solidFill>
                <a:srgbClr val="1F5F5B"/>
              </a:solidFill>
            </c:spPr>
          </c:dPt>
          <c:dPt>
            <c:idx val="4"/>
            <c:spPr>
              <a:solidFill>
                <a:srgbClr val="B03A2B"/>
              </a:solidFill>
            </c:spPr>
          </c:dPt>
          <c:cat>
            <c:strRef>
              <c:f>Sheet1!$A$2:$A$6</c:f>
              <c:strCache>
                <c:ptCount val="5"/>
                <c:pt idx="0">
                  <c:v>2022학년도</c:v>
                </c:pt>
                <c:pt idx="1">
                  <c:v>2023학년도</c:v>
                </c:pt>
                <c:pt idx="2">
                  <c:v>2024학년도</c:v>
                </c:pt>
                <c:pt idx="3">
                  <c:v>2025학년도</c:v>
                </c:pt>
                <c:pt idx="4">
                  <c:v>2026학년도</c:v>
                </c:pt>
              </c:strCache>
            </c:strRef>
          </c:cat>
          <c:val>
            <c:numRef>
              <c:f>Sheet1!$B$2:$B$6</c:f>
              <c:numCache>
                <c:formatCode>0.00"%"</c:formatCode>
                <c:ptCount val="5"/>
                <c:pt idx="0">
                  <c:v>37.57</c:v>
                </c:pt>
                <c:pt idx="1">
                  <c:v>28.88</c:v>
                </c:pt>
                <c:pt idx="2">
                  <c:v>18.81</c:v>
                </c:pt>
                <c:pt idx="3">
                  <c:v>19.62</c:v>
                </c:pt>
                <c:pt idx="4">
                  <c:v>15.23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400" b="1">
                  <a:solidFill>
                    <a:srgbClr val="2A24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B994"/>
            </a:solidFill>
          </a:ln>
        </c:spPr>
        <c:txPr>
          <a:bodyPr/>
          <a:lstStyle/>
          <a:p>
            <a:pPr>
              <a:defRPr sz="1200">
                <a:solidFill>
                  <a:srgbClr val="675B4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 lang="ko-KR" altLang="en-US">
          <a:solidFill>
            <a:srgbClr val="675B4C"/>
          </a:solidFill>
          <a:latin typeface="Malgun Gothic"/>
          <a:ea typeface="Malgun Gothic"/>
          <a:cs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초등 교사</c:v>
                </c:pt>
              </c:strCache>
            </c:strRef>
          </c:tx>
          <c:dPt>
            <c:idx val="0"/>
            <c:spPr>
              <a:solidFill>
                <a:srgbClr val="1F5F5B"/>
              </a:solidFill>
              <a:ln>
                <a:noFill/>
              </a:ln>
            </c:spPr>
          </c:dPt>
          <c:dPt>
            <c:idx val="1"/>
            <c:spPr>
              <a:solidFill>
                <a:srgbClr val="ECE1CA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그렇다</c:v>
                </c:pt>
                <c:pt idx="1">
                  <c:v>그 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50.5</c:v>
                </c:pt>
                <c:pt idx="1">
                  <c:v>49.5</c:v>
                </c:pt>
              </c:numCache>
            </c:numRef>
          </c:val>
        </c:ser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000" lang="ko-KR" altLang="en-US">
          <a:solidFill>
            <a:srgbClr val="675B4C"/>
          </a:solidFill>
          <a:latin typeface="Malgun Gothic"/>
          <a:ea typeface="Malgun Gothic"/>
          <a:cs typeface="Malgun Gothic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중등 교사</c:v>
                </c:pt>
              </c:strCache>
            </c:strRef>
          </c:tx>
          <c:dPt>
            <c:idx val="0"/>
            <c:spPr>
              <a:solidFill>
                <a:srgbClr val="B03A2B"/>
              </a:solidFill>
              <a:ln>
                <a:noFill/>
              </a:ln>
            </c:spPr>
          </c:dPt>
          <c:dPt>
            <c:idx val="1"/>
            <c:spPr>
              <a:solidFill>
                <a:srgbClr val="ECE1CA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그렇다</c:v>
                </c:pt>
                <c:pt idx="1">
                  <c:v>그 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61.1</c:v>
                </c:pt>
                <c:pt idx="1">
                  <c:v>38.9</c:v>
                </c:pt>
              </c:numCache>
            </c:numRef>
          </c:val>
        </c:ser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000" lang="ko-KR" altLang="en-US">
          <a:solidFill>
            <a:srgbClr val="675B4C"/>
          </a:solidFill>
          <a:latin typeface="Malgun Gothic"/>
          <a:ea typeface="Malgun Gothic"/>
          <a:cs typeface="Malgun Gothic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452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한옥 마당 한국사 퀴즈는 초·중·고 학생이 각자 폰으로 같은 한옥 마당에 들어와, 캐릭터를 움직여 정답 자리에 서는 방식의 역사 퀴즈 게임입니다.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사회적 의의 — 근거가 된 뉴스 기사</a:t>
            </a:r>
          </a:p>
          <a:p>
            <a:r>
              <a:t>1) 디지털타임스, 2025.8.13 (피앰아이 조사, 성인 1,000명): 광복절의 의미·날짜·주요 활동을 모두 안다는 응답이 60대 92.5%, 50대 85.3%, 40대 79.4%, 20대 77.7%, 30대 72.4%. 젊은 세대일수록 낮음.</a:t>
            </a:r>
          </a:p>
          <a:p>
            <a:r>
              <a:t>2) 뉴시스, 2026.3.25: 일본 문부과학성 고교 교과서 검정 결과, 대부분의 합격 교과서가 독도를 일본 고유 영토로 기술했고 일부 역사 교과서는 강제동원 서술을 완곡하게 바꿈. 외교부는 일본대사관 총괄공사를 초치해 강한 유감을 표명.</a:t>
            </a:r>
          </a:p>
          <a:p>
            <a:r>
              <a:t>3) 경향신문, 2026.5.19: MBC 드라마 '21세기 대군부인'의 즉위식 장면 등이 고증 오류 논란을 빚고 제작진이 사과. 서경덕 교수는 중국 동북공정에 빌미를 줄 수 있다고 지적.</a:t>
            </a:r>
          </a:p>
          <a:p>
            <a:r>
              <a:t>→ 한옥 마당 한국사 퀴즈는 학생들이 해설과 함께 정확한 역사 사실을 놀이로 익히게 해, 왜곡된 정보를 스스로 가려낼 기초를 만들어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숫자로 보는 학생들의 한국사 현실 — 근거 자료</a:t>
            </a:r>
          </a:p>
          <a:p>
            <a:r>
              <a:t>① 수능 한국사 1등급(40점 이상) 비율</a:t>
            </a:r>
          </a:p>
          <a:p>
            <a:r>
              <a:t>· 2022학년도 37.57% (16만 8,379명) — CBS노컷뉴스 2021.12.9</a:t>
            </a:r>
          </a:p>
          <a:p>
            <a:r>
              <a:t>· 2023학년도 28.88% (12만 9,273명) — 경상일보 2022.12.9</a:t>
            </a:r>
          </a:p>
          <a:p>
            <a:r>
              <a:t>· 2024학년도 18.81% (8만 3,674명) — 국제뉴스 2023.12.8</a:t>
            </a:r>
          </a:p>
          <a:p>
            <a:r>
              <a:t>· 2025학년도 19.62% — 내일교육 2025.12.18</a:t>
            </a:r>
          </a:p>
          <a:p>
            <a:r>
              <a:t>· 2026학년도 15.23% (7만 5,199명) — 연합뉴스(전북일보 게재) 2025.12.4</a:t>
            </a:r>
          </a:p>
          <a:p>
            <a:r>
              <a:t>※ 한국사는 절대평가라 그해 시험 난이도에 따라 비율이 오르내릴 수 있음.</a:t>
            </a:r>
          </a:p>
          <a:p>
            <a:r>
              <a:t>② 역사 왜곡 콘텐츠 — 인천일보 2026.10.26</a:t>
            </a:r>
          </a:p>
          <a:p>
            <a:r>
              <a:t>· 경기도초중등역사교육연구회가 초등 5·6학년 담임 785명, 중등 역사교사 877명(총 1,662명)에게 9월 1~11일 조사.</a:t>
            </a:r>
          </a:p>
          <a:p>
            <a:r>
              <a:t>· '역사 부정·왜곡 콘텐츠로 수업에 어려움을 겪는다': 초등 50.5%, 중등 61.1%.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2000" y="0"/>
            <a:ext cx="5080000" cy="6858000"/>
          </a:xfrm>
          <a:prstGeom prst="rect">
            <a:avLst/>
          </a:prstGeom>
          <a:solidFill>
            <a:srgbClr val="ECE1CA"/>
          </a:solidFill>
          <a:ln/>
        </p:spPr>
        <p:txBody>
          <a:bodyPr/>
          <a:p/>
        </p:txBody>
      </p:sp>
      <p:pic>
        <p:nvPicPr>
          <p:cNvPr id="3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2800" y="17145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6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초·중·고 학생을 위한 체험형 한국사 게임</a:t>
            </a:r>
            <a:endParaRPr lang="ko-KR" alt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2222500"/>
            <a:ext cx="6096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64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한옥 마당</a:t>
            </a:r>
            <a:endParaRPr lang="ko-KR" altLang="en-US" sz="6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64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한국사 퀴즈</a:t>
            </a:r>
            <a:endParaRPr lang="ko-KR" alt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4381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8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폰을 들고 마당으로 걸어 들어가,</a:t>
            </a:r>
            <a:endParaRPr lang="ko-KR" alt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800" b="1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몸을 움직여 정답 자리에 서는</a:t>
            </a:r>
            <a:r>
              <a:rPr lang="ko-KR" altLang="en-US" sz="18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 여러 명 동시 참여 역사 퀴즈</a:t>
            </a:r>
            <a:endParaRPr lang="ko-KR" altLang="en-US" sz="1800" dirty="0"/>
          </a:p>
        </p:txBody>
      </p:sp>
      <p:pic>
        <p:nvPicPr>
          <p:cNvPr id="7" name="Image 1" descr="한옥 지붕 아래 마당에서 학생들이 O와 X 돗자리 위에 서 있는 그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1651000"/>
            <a:ext cx="4318000" cy="3556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2800" y="6223000"/>
            <a:ext cx="508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서비스 소개 발표 · 2026</a:t>
            </a:r>
            <a:endParaRPr lang="ko-KR" alt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발표 순서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오늘 이야기할 다섯 가지</a:t>
            </a:r>
            <a:endParaRPr lang="ko-KR" alt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2654300"/>
            <a:ext cx="10566400" cy="12700"/>
          </a:xfrm>
          <a:prstGeom prst="rect">
            <a:avLst/>
          </a:prstGeom>
          <a:solidFill>
            <a:srgbClr val="C9B994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16000" y="2006600"/>
            <a:ext cx="571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C9B994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01</a:t>
            </a:r>
            <a:endParaRPr lang="ko-KR" alt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006600"/>
            <a:ext cx="266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000" b="1" dirty="0" smtClean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</a:rPr>
              <a:t>문제 인식</a:t>
            </a:r>
            <a:endParaRPr lang="ko-KR" alt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800600" y="2006600"/>
            <a:ext cx="520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학생들의 한국사 학습 현실과 고민</a:t>
            </a:r>
            <a:endParaRPr lang="ko-KR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12800" y="3314700"/>
            <a:ext cx="10566400" cy="12700"/>
          </a:xfrm>
          <a:prstGeom prst="rect">
            <a:avLst/>
          </a:prstGeom>
          <a:solidFill>
            <a:srgbClr val="C9B994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016000" y="2667000"/>
            <a:ext cx="571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C9B994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02</a:t>
            </a:r>
            <a:endParaRPr lang="ko-KR" alt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2667000"/>
            <a:ext cx="266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0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프로젝트 소개</a:t>
            </a:r>
            <a:endParaRPr lang="ko-KR" alt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2667000"/>
            <a:ext cx="520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어떤 서비스이고 어떻게 즐기나</a:t>
            </a:r>
            <a:endParaRPr lang="ko-KR" alt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2800" y="3327400"/>
            <a:ext cx="10566400" cy="660400"/>
          </a:xfrm>
          <a:prstGeom prst="rect">
            <a:avLst/>
          </a:prstGeom>
          <a:solidFill>
            <a:srgbClr val="ECE1CA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12800" y="3975100"/>
            <a:ext cx="10566400" cy="12700"/>
          </a:xfrm>
          <a:prstGeom prst="rect">
            <a:avLst/>
          </a:prstGeom>
          <a:solidFill>
            <a:srgbClr val="C9B994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16000" y="3327400"/>
            <a:ext cx="571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B03A2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03</a:t>
            </a:r>
            <a:endParaRPr lang="ko-KR" alt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327400"/>
            <a:ext cx="266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0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목적</a:t>
            </a:r>
            <a:endParaRPr lang="ko-KR" alt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3327400"/>
            <a:ext cx="520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이 게임이 이루려는 세 가지</a:t>
            </a:r>
            <a:endParaRPr lang="ko-KR" alt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160000" y="3327400"/>
            <a:ext cx="1016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핵심</a:t>
            </a:r>
            <a:endParaRPr lang="ko-KR" alt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2800" y="3987800"/>
            <a:ext cx="10566400" cy="660400"/>
          </a:xfrm>
          <a:prstGeom prst="rect">
            <a:avLst/>
          </a:prstGeom>
          <a:solidFill>
            <a:srgbClr val="ECE1CA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12800" y="4635500"/>
            <a:ext cx="10566400" cy="12700"/>
          </a:xfrm>
          <a:prstGeom prst="rect">
            <a:avLst/>
          </a:prstGeom>
          <a:solidFill>
            <a:srgbClr val="C9B994"/>
          </a:solidFill>
          <a:ln/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016000" y="3987800"/>
            <a:ext cx="571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B03A2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04</a:t>
            </a:r>
            <a:endParaRPr lang="ko-KR" alt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1828800" y="3987800"/>
            <a:ext cx="266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0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의의</a:t>
            </a:r>
            <a:endParaRPr lang="ko-KR" alt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4800600" y="3987800"/>
            <a:ext cx="520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교육·참여·운영 면에서 갖는 가치</a:t>
            </a:r>
            <a:endParaRPr lang="ko-KR" alt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160000" y="3987800"/>
            <a:ext cx="1016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핵심</a:t>
            </a:r>
            <a:endParaRPr lang="ko-KR" alt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16000" y="4648200"/>
            <a:ext cx="571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C9B994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05</a:t>
            </a:r>
            <a:endParaRPr lang="ko-KR" alt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1828800" y="4648200"/>
            <a:ext cx="266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0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기대 효과</a:t>
            </a:r>
            <a:endParaRPr lang="ko-KR" alt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4800600" y="4648200"/>
            <a:ext cx="520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부스 현장과 학생에게 남는 것</a:t>
            </a:r>
            <a:endParaRPr lang="ko-KR" alt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02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01 · </a:t>
            </a:r>
            <a:r>
              <a:rPr lang="ko-KR" altLang="en-US" sz="1400" b="1" dirty="0" smtClean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문제 인식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숫자로 보는 학생들의 한국사 현실</a:t>
            </a:r>
            <a:endParaRPr lang="ko-KR" alt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812800" y="4978400"/>
            <a:ext cx="10566400" cy="635000"/>
          </a:xfrm>
          <a:prstGeom prst="rect">
            <a:avLst/>
          </a:prstGeom>
          <a:solidFill>
            <a:srgbClr val="2A241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1600" b="1" dirty="0">
                <a:solidFill>
                  <a:srgbClr val="F6EFE1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→ 학년에 맞게, 재미있게, 정확하게 배우는 한국사 경험이 필요하다</a:t>
            </a:r>
            <a:r>
              <a:rPr lang="ko-KR" altLang="en-US" sz="1600" b="1" dirty="0" smtClean="0">
                <a:solidFill>
                  <a:srgbClr val="F6EFE1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/>
            </a:r>
            <a:r>
              <a:rPr lang="ko-KR" altLang="en-US" sz="1600" b="1" dirty="0" smtClean="0">
                <a:solidFill>
                  <a:srgbClr val="F6EFE1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/>
            </a:r>
            <a:r>
              <a:rPr lang="ko-KR" altLang="en-US" sz="1600" b="1" dirty="0">
                <a:solidFill>
                  <a:srgbClr val="F6EFE1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/>
            </a:r>
            <a:endParaRPr lang="ko-KR" alt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03 / 14</a:t>
            </a:r>
            <a:endParaRPr lang="ko-KR" altLang="en-US" sz="1200" dirty="0"/>
          </a:p>
        </p:txBody>
      </p:sp>
      <p:sp>
        <p:nvSpPr>
          <p:cNvPr id="22" name="카드 수능"/>
          <p:cNvSpPr/>
          <p:nvPr/>
        </p:nvSpPr>
        <p:spPr>
          <a:xfrm>
            <a:off x="812800" y="1930400"/>
            <a:ext cx="6223000" cy="2870200"/>
          </a:xfrm>
          <a:prstGeom prst="roundRect">
            <a:avLst>
              <a:gd name="adj" fmla="val 2654"/>
            </a:avLst>
          </a:prstGeom>
          <a:solidFill>
            <a:srgbClr val="F6EFE1"/>
          </a:solidFill>
          <a:ln w="9525">
            <a:solidFill>
              <a:srgbClr val="C9B9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6000" y="2108200"/>
            <a:ext cx="581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2A241D"/>
                </a:solidFill>
                <a:latin typeface="Malgun Gothic"/>
                <a:ea typeface="Malgun Gothic"/>
                <a:cs typeface="Malgun Gothic"/>
              </a:rPr>
              <a:t>수능 한국사 1등급 비율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2362200"/>
            <a:ext cx="5816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675B4C"/>
                </a:solidFill>
                <a:latin typeface="Malgun Gothic"/>
                <a:ea typeface="Malgun Gothic"/>
                <a:cs typeface="Malgun Gothic"/>
              </a:rPr>
              <a:t>2022학년도 37.57%에서 2026학년도 15.23%로, 4년 새 절반 이하</a:t>
            </a:r>
          </a:p>
        </p:txBody>
      </p:sp>
      <p:graphicFrame>
        <p:nvGraphicFramePr>
          <p:cNvPr id="25" name="수능 한국사 1등급 그래프"/>
          <p:cNvGraphicFramePr>
            <a:graphicFrameLocks noGrp="1"/>
          </p:cNvGraphicFramePr>
          <p:nvPr/>
        </p:nvGraphicFramePr>
        <p:xfrm>
          <a:off x="965200" y="2616200"/>
          <a:ext cx="5918200" cy="2082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카드 왜곡 콘텐츠"/>
          <p:cNvSpPr/>
          <p:nvPr/>
        </p:nvSpPr>
        <p:spPr>
          <a:xfrm>
            <a:off x="7239000" y="1930400"/>
            <a:ext cx="4140200" cy="2870200"/>
          </a:xfrm>
          <a:prstGeom prst="roundRect">
            <a:avLst>
              <a:gd name="adj" fmla="val 2654"/>
            </a:avLst>
          </a:prstGeom>
          <a:solidFill>
            <a:srgbClr val="F6EFE1"/>
          </a:solidFill>
          <a:ln w="9525">
            <a:solidFill>
              <a:srgbClr val="C9B9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2200" y="2108200"/>
            <a:ext cx="3733799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2A241D"/>
                </a:solidFill>
                <a:latin typeface="Malgun Gothic"/>
                <a:ea typeface="Malgun Gothic"/>
                <a:cs typeface="Malgun Gothic"/>
              </a:rPr>
              <a:t>“역사 왜곡 콘텐츠로 수업이 어렵다”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2200" y="2362200"/>
            <a:ext cx="373379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675B4C"/>
                </a:solidFill>
                <a:latin typeface="Malgun Gothic"/>
                <a:ea typeface="Malgun Gothic"/>
                <a:cs typeface="Malgun Gothic"/>
              </a:rPr>
              <a:t>이렇게 답한 교사의 비율</a:t>
            </a:r>
          </a:p>
        </p:txBody>
      </p:sp>
      <p:graphicFrame>
        <p:nvGraphicFramePr>
          <p:cNvPr id="29" name="초등 교사 도넛"/>
          <p:cNvGraphicFramePr>
            <a:graphicFrameLocks noGrp="1"/>
          </p:cNvGraphicFramePr>
          <p:nvPr/>
        </p:nvGraphicFramePr>
        <p:xfrm>
          <a:off x="7594600" y="2692400"/>
          <a:ext cx="1460500" cy="14605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초등 교사 수치"/>
          <p:cNvSpPr txBox="1"/>
          <p:nvPr/>
        </p:nvSpPr>
        <p:spPr>
          <a:xfrm>
            <a:off x="7594600" y="3232150"/>
            <a:ext cx="1460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ko-KR" altLang="en-US">
                <a:solidFill>
                  <a:srgbClr val="1F5F5B"/>
                </a:solidFill>
                <a:latin typeface="Malgun Gothic"/>
                <a:ea typeface="Malgun Gothic"/>
                <a:cs typeface="Malgun Gothic"/>
              </a:rPr>
              <a:t>50.5%</a:t>
            </a:r>
          </a:p>
        </p:txBody>
      </p:sp>
      <p:sp>
        <p:nvSpPr>
          <p:cNvPr id="31" name="초등 교사 이름"/>
          <p:cNvSpPr txBox="1"/>
          <p:nvPr/>
        </p:nvSpPr>
        <p:spPr>
          <a:xfrm>
            <a:off x="7435850" y="4241800"/>
            <a:ext cx="177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lang="ko-KR" altLang="en-US">
                <a:solidFill>
                  <a:srgbClr val="2A241D"/>
                </a:solidFill>
                <a:latin typeface="Malgun Gothic"/>
                <a:ea typeface="Malgun Gothic"/>
                <a:cs typeface="Malgun Gothic"/>
              </a:rPr>
              <a:t>초등 교사</a:t>
            </a:r>
          </a:p>
          <a:p>
            <a:pPr algn="ctr"/>
            <a:r>
              <a:rPr sz="1100" b="0" lang="ko-KR" altLang="en-US">
                <a:solidFill>
                  <a:srgbClr val="675B4C"/>
                </a:solidFill>
                <a:latin typeface="Malgun Gothic"/>
                <a:ea typeface="Malgun Gothic"/>
                <a:cs typeface="Malgun Gothic"/>
              </a:rPr>
              <a:t>5·6학년 담임 785명</a:t>
            </a:r>
          </a:p>
        </p:txBody>
      </p:sp>
      <p:graphicFrame>
        <p:nvGraphicFramePr>
          <p:cNvPr id="32" name="중등 교사 도넛"/>
          <p:cNvGraphicFramePr>
            <a:graphicFrameLocks noGrp="1"/>
          </p:cNvGraphicFramePr>
          <p:nvPr/>
        </p:nvGraphicFramePr>
        <p:xfrm>
          <a:off x="9563100" y="2692400"/>
          <a:ext cx="1460500" cy="14605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중등 교사 수치"/>
          <p:cNvSpPr txBox="1"/>
          <p:nvPr/>
        </p:nvSpPr>
        <p:spPr>
          <a:xfrm>
            <a:off x="9563100" y="3232150"/>
            <a:ext cx="1460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ko-KR" altLang="en-US">
                <a:solidFill>
                  <a:srgbClr val="B03A2B"/>
                </a:solidFill>
                <a:latin typeface="Malgun Gothic"/>
                <a:ea typeface="Malgun Gothic"/>
                <a:cs typeface="Malgun Gothic"/>
              </a:rPr>
              <a:t>61.1%</a:t>
            </a:r>
          </a:p>
        </p:txBody>
      </p:sp>
      <p:sp>
        <p:nvSpPr>
          <p:cNvPr id="34" name="중등 교사 이름"/>
          <p:cNvSpPr txBox="1"/>
          <p:nvPr/>
        </p:nvSpPr>
        <p:spPr>
          <a:xfrm>
            <a:off x="9404350" y="4241800"/>
            <a:ext cx="177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lang="ko-KR" altLang="en-US">
                <a:solidFill>
                  <a:srgbClr val="2A241D"/>
                </a:solidFill>
                <a:latin typeface="Malgun Gothic"/>
                <a:ea typeface="Malgun Gothic"/>
                <a:cs typeface="Malgun Gothic"/>
              </a:rPr>
              <a:t>중등 교사</a:t>
            </a:r>
          </a:p>
          <a:p>
            <a:pPr algn="ctr"/>
            <a:r>
              <a:rPr sz="1100" b="0" lang="ko-KR" altLang="en-US">
                <a:solidFill>
                  <a:srgbClr val="675B4C"/>
                </a:solidFill>
                <a:latin typeface="Malgun Gothic"/>
                <a:ea typeface="Malgun Gothic"/>
                <a:cs typeface="Malgun Gothic"/>
              </a:rPr>
              <a:t>역사교사 877명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029200" y="62357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lang="ko-KR" altLang="en-US">
                <a:solidFill>
                  <a:srgbClr val="675B4C"/>
                </a:solidFill>
                <a:latin typeface="Malgun Gothic"/>
                <a:ea typeface="Malgun Gothic"/>
                <a:cs typeface="Malgun Gothic"/>
              </a:rPr>
              <a:t>출처: 내일교육·연합뉴스 등 수능 채점 결과 보도(2021~2025) · 인천일보(2026.10.26)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01 · </a:t>
            </a:r>
            <a:r>
              <a:rPr lang="ko-KR" altLang="en-US" sz="1400" b="1" dirty="0" smtClean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문제 인식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역사는 재미있는데, 공부는 지루하다</a:t>
            </a:r>
            <a:endParaRPr lang="ko-KR" alt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2032000"/>
            <a:ext cx="3384550" cy="2476500"/>
          </a:xfrm>
          <a:prstGeom prst="roundRect">
            <a:avLst>
              <a:gd name="adj" fmla="val 307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12800" y="2032000"/>
            <a:ext cx="3384550" cy="76200"/>
          </a:xfrm>
          <a:prstGeom prst="rect">
            <a:avLst/>
          </a:prstGeom>
          <a:solidFill>
            <a:srgbClr val="B03A2B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066800" y="23368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고민 1</a:t>
            </a:r>
            <a:endParaRPr lang="ko-KR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66800" y="2667000"/>
            <a:ext cx="28765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외우는 과목</a:t>
            </a:r>
            <a:endParaRPr lang="ko-KR" alt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66800" y="3149600"/>
            <a:ext cx="2876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5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연도·왕·사건을 외워야 한다는 인식이 강해, 흥미를 갖기 전에 </a:t>
            </a:r>
            <a:r>
              <a:rPr lang="ko-KR" altLang="en-US" sz="150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멀어지기 </a:t>
            </a:r>
            <a:r>
              <a:rPr lang="ko-KR" altLang="en-US" sz="1500" smtClean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쉽다</a:t>
            </a:r>
            <a:endParaRPr lang="ko-KR" alt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00550" y="2032000"/>
            <a:ext cx="3384550" cy="2476500"/>
          </a:xfrm>
          <a:prstGeom prst="roundRect">
            <a:avLst>
              <a:gd name="adj" fmla="val 307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400550" y="2032000"/>
            <a:ext cx="3384550" cy="76200"/>
          </a:xfrm>
          <a:prstGeom prst="rect">
            <a:avLst/>
          </a:prstGeom>
          <a:solidFill>
            <a:srgbClr val="B03A2B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654550" y="23368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고민 2</a:t>
            </a:r>
            <a:endParaRPr lang="ko-KR" alt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654550" y="2667000"/>
            <a:ext cx="28765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 smtClean="0">
                <a:solidFill>
                  <a:srgbClr val="2A241D"/>
                </a:solidFill>
                <a:latin typeface="Batang" pitchFamily="34" charset="0"/>
                <a:ea typeface="Batang" pitchFamily="34" charset="-127"/>
              </a:rPr>
              <a:t>학년별 난이도</a:t>
            </a:r>
            <a:endParaRPr lang="en-US" altLang="ko-KR" sz="2200" b="1" dirty="0" smtClean="0">
              <a:solidFill>
                <a:srgbClr val="2A241D"/>
              </a:solidFill>
              <a:latin typeface="Batang" pitchFamily="34" charset="0"/>
              <a:ea typeface="Batang" pitchFamily="34" charset="-127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ko-KR" alt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654550" y="3142726"/>
            <a:ext cx="2876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500" dirty="0" smtClean="0"/>
              <a:t>일반적인 유튜브나 역사책으로는 학년별로 다른 난이도의 역사를 공부하기 쉽지 않다</a:t>
            </a:r>
            <a:r>
              <a:rPr lang="en-US" altLang="ko-KR" sz="1500" dirty="0" smtClean="0"/>
              <a:t>.</a:t>
            </a:r>
            <a:endParaRPr lang="ko-KR" alt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988300" y="2032000"/>
            <a:ext cx="3384550" cy="2476500"/>
          </a:xfrm>
          <a:prstGeom prst="roundRect">
            <a:avLst>
              <a:gd name="adj" fmla="val 307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988300" y="2032000"/>
            <a:ext cx="3384550" cy="76200"/>
          </a:xfrm>
          <a:prstGeom prst="rect">
            <a:avLst/>
          </a:prstGeom>
          <a:solidFill>
            <a:srgbClr val="B03A2B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42300" y="23368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고민 3</a:t>
            </a:r>
            <a:endParaRPr lang="ko-KR" alt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42300" y="2692400"/>
            <a:ext cx="28765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dirty="0" err="1" smtClean="0"/>
              <a:t>역사공부</a:t>
            </a:r>
            <a:r>
              <a:rPr lang="ko-KR" altLang="en-US" sz="2200" dirty="0" smtClean="0"/>
              <a:t> 서비스 부족</a:t>
            </a:r>
            <a:endParaRPr lang="en-US" altLang="ko-KR" sz="2200" b="1" dirty="0">
              <a:solidFill>
                <a:srgbClr val="2A241D"/>
              </a:solidFill>
              <a:latin typeface="Batang" pitchFamily="34" charset="0"/>
              <a:ea typeface="Batang" pitchFamily="34" charset="-127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8242300" y="3149600"/>
            <a:ext cx="2876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500" dirty="0" smtClean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</a:rPr>
              <a:t>학교에서나 학원에서나 앉아서 공부를 하는데</a:t>
            </a:r>
            <a:r>
              <a:rPr lang="en-US" altLang="ko-KR" sz="1500" dirty="0" smtClean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</a:rPr>
              <a:t>, </a:t>
            </a:r>
            <a:r>
              <a:rPr lang="ko-KR" altLang="en-US" sz="1500" dirty="0" smtClean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</a:rPr>
              <a:t>그런 방식은 학생들에게 지루함을 준다</a:t>
            </a:r>
            <a:r>
              <a:rPr lang="en-US" altLang="ko-KR" sz="1500" dirty="0" smtClean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</a:rPr>
              <a:t>.</a:t>
            </a:r>
            <a:endParaRPr lang="ko-KR" alt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12800" y="4762500"/>
            <a:ext cx="10566400" cy="635000"/>
          </a:xfrm>
          <a:prstGeom prst="rect">
            <a:avLst/>
          </a:prstGeom>
          <a:solidFill>
            <a:srgbClr val="2A241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1600" b="1" dirty="0">
                <a:solidFill>
                  <a:srgbClr val="F6EFE1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→ ‘앉아서 듣는 역사’가 아니라 ‘직접 움직이며 </a:t>
            </a:r>
            <a:r>
              <a:rPr lang="ko-KR" altLang="en-US" sz="1600" b="1" dirty="0" smtClean="0">
                <a:solidFill>
                  <a:srgbClr val="F6EFE1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알아가는</a:t>
            </a:r>
            <a:r>
              <a:rPr lang="ko-KR" altLang="en-US" sz="1600" b="1" dirty="0" smtClean="0">
                <a:solidFill>
                  <a:srgbClr val="F6EFE1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F6EFE1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역사’를 만들자</a:t>
            </a:r>
            <a:endParaRPr lang="ko-KR" alt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04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02 · 프로젝트 소개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한옥 마당에 모여 함께 푸는 한국사 퀴즈</a:t>
            </a:r>
            <a:endParaRPr lang="ko-KR" alt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18161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5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학생들이 각자 폰·태블릿으로 같은 한옥 마당에 접속해, 캐릭터를 움직여 정답 자리(돗자리)에 서면 모두 함께 채점받습니다. 앱 설치 없이 QR 코드 하나로 바로 참여합니다.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800" y="2730500"/>
            <a:ext cx="3384550" cy="2159000"/>
          </a:xfrm>
          <a:prstGeom prst="roundRect">
            <a:avLst>
              <a:gd name="adj" fmla="val 3529"/>
            </a:avLst>
          </a:prstGeom>
          <a:solidFill>
            <a:srgbClr val="ECE1CA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066800" y="2984500"/>
            <a:ext cx="28765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진행자 화면</a:t>
            </a:r>
            <a:endParaRPr lang="ko-KR" alt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66800" y="34544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1F5F5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/host · 부스의 큰 모니터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66800" y="3784600"/>
            <a:ext cx="28765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방 만들기, 입장 QR, 문제 진행, 실시간 순위와 학생 명단</a:t>
            </a:r>
            <a:endParaRPr lang="ko-KR" alt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00550" y="2730500"/>
            <a:ext cx="3384550" cy="2159000"/>
          </a:xfrm>
          <a:prstGeom prst="roundRect">
            <a:avLst>
              <a:gd name="adj" fmla="val 3529"/>
            </a:avLst>
          </a:prstGeom>
          <a:solidFill>
            <a:srgbClr val="ECE1CA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654550" y="2984500"/>
            <a:ext cx="28765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학생 화면</a:t>
            </a:r>
            <a:endParaRPr lang="ko-KR" alt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654550" y="34544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1F5F5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/play · 학생들의 폰·태블릿</a:t>
            </a:r>
            <a:endParaRPr lang="ko-KR" alt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654550" y="3784600"/>
            <a:ext cx="28765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조이스틱으로 캐릭터를 움직여 정답 자리로. 힌트는 나에게만</a:t>
            </a:r>
            <a:endParaRPr lang="ko-KR" alt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88300" y="2730500"/>
            <a:ext cx="3384550" cy="2159000"/>
          </a:xfrm>
          <a:prstGeom prst="roundRect">
            <a:avLst>
              <a:gd name="adj" fmla="val 3529"/>
            </a:avLst>
          </a:prstGeom>
          <a:solidFill>
            <a:srgbClr val="ECE1CA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42300" y="2984500"/>
            <a:ext cx="28765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혼자 하기</a:t>
            </a:r>
            <a:endParaRPr lang="ko-KR" alt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242300" y="34544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1F5F5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/solo · 비상용 1인 버전</a:t>
            </a:r>
            <a:endParaRPr lang="ko-KR" alt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42300" y="3784600"/>
            <a:ext cx="28765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 번 열어 두면 인터넷 없이도 끝까지 진행되는 대비책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05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02 · 프로젝트 소개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이렇게 즐깁니다</a:t>
            </a:r>
            <a:endParaRPr lang="ko-KR" alt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1816100"/>
            <a:ext cx="1056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 판 10문제, 짧고 굵게 끝나는 흐름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800" y="2349500"/>
            <a:ext cx="2527300" cy="2476500"/>
          </a:xfrm>
          <a:prstGeom prst="roundRect">
            <a:avLst>
              <a:gd name="adj" fmla="val 307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041400" y="2552700"/>
            <a:ext cx="207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1F5F5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1</a:t>
            </a:r>
            <a:endParaRPr lang="ko-KR" alt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041400" y="3149600"/>
            <a:ext cx="207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8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방 만들기</a:t>
            </a:r>
            <a:endParaRPr lang="ko-KR" alt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41400" y="3543300"/>
            <a:ext cx="20701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진행자가 [방 만들기]를 누르면 4자리 입장 코드와 QR이 크게 뜹니다.</a:t>
            </a:r>
            <a:endParaRPr lang="ko-KR" alt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92500" y="2349500"/>
            <a:ext cx="2527300" cy="2476500"/>
          </a:xfrm>
          <a:prstGeom prst="roundRect">
            <a:avLst>
              <a:gd name="adj" fmla="val 307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721100" y="2552700"/>
            <a:ext cx="207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B03A2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2</a:t>
            </a:r>
            <a:endParaRPr lang="ko-KR" alt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3721100" y="3149600"/>
            <a:ext cx="207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8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입장</a:t>
            </a:r>
            <a:endParaRPr lang="ko-KR" alt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721100" y="3543300"/>
            <a:ext cx="20701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QR을 찍고 이름(별명 가능)만 넣으면 끝. 저고리 색은 겹치지 않게 자동 배정.</a:t>
            </a:r>
            <a:endParaRPr lang="ko-KR" alt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2349500"/>
            <a:ext cx="2527300" cy="2476500"/>
          </a:xfrm>
          <a:prstGeom prst="roundRect">
            <a:avLst>
              <a:gd name="adj" fmla="val 307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400800" y="2552700"/>
            <a:ext cx="207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1F5F5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3</a:t>
            </a:r>
            <a:endParaRPr lang="ko-KR" alt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149600"/>
            <a:ext cx="207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8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정답 자리로</a:t>
            </a:r>
            <a:endParaRPr lang="ko-KR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3543300"/>
            <a:ext cx="20701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조이스틱·터치로 걸어가 O/X 또는 보기 돗자리에 섭니다.</a:t>
            </a:r>
            <a:endParaRPr lang="ko-KR" alt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851900" y="2349500"/>
            <a:ext cx="2527300" cy="2476500"/>
          </a:xfrm>
          <a:prstGeom prst="roundRect">
            <a:avLst>
              <a:gd name="adj" fmla="val 307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9080500" y="2552700"/>
            <a:ext cx="207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B03A2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4</a:t>
            </a:r>
            <a:endParaRPr lang="ko-KR" alt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9080500" y="3149600"/>
            <a:ext cx="207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8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정답·해설·순위</a:t>
            </a:r>
            <a:endParaRPr lang="ko-KR" alt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080500" y="3543300"/>
            <a:ext cx="20701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정답과 친구들 위치를 공개하고, 해설과 상위 5명 순위를 보여 줍니다.</a:t>
            </a:r>
            <a:endParaRPr lang="ko-KR" alt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12800" y="5080000"/>
            <a:ext cx="1056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제한 시간 </a:t>
            </a:r>
            <a:r>
              <a:rPr lang="ko-KR" altLang="en-US" sz="14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O/X 22초 · 객관식 30초 · 주관식 40초</a:t>
            </a: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  ·  한 방 최대 30명 · 여러 방 동시 운영</a:t>
            </a:r>
            <a:endParaRPr lang="ko-KR" alt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06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02 · 프로젝트 소개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학년에 맞춘 3단계, 총 375문제</a:t>
            </a:r>
            <a:endParaRPr lang="ko-KR" alt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21209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초등부</a:t>
            </a:r>
            <a:endParaRPr lang="ko-KR" alt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24892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O/X 퀴즈</a:t>
            </a:r>
            <a:endParaRPr lang="ko-KR" alt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17800" y="2108200"/>
            <a:ext cx="3302000" cy="304800"/>
          </a:xfrm>
          <a:prstGeom prst="roundRect">
            <a:avLst>
              <a:gd name="adj" fmla="val 16667"/>
            </a:avLst>
          </a:prstGeom>
          <a:solidFill>
            <a:srgbClr val="B03A2B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146800" y="2070100"/>
            <a:ext cx="88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70</a:t>
            </a:r>
            <a:endParaRPr lang="ko-KR" alt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2717800" y="2489200"/>
            <a:ext cx="866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태극기, 한글, 명절처럼 생활 속에서 만나는 우리 역사</a:t>
            </a:r>
            <a:endParaRPr lang="ko-KR" alt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2800" y="30099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중등부</a:t>
            </a:r>
            <a:endParaRPr lang="ko-KR" alt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12800" y="33782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객관식 + O/X</a:t>
            </a:r>
            <a:endParaRPr lang="ko-KR" alt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17800" y="2997200"/>
            <a:ext cx="6985000" cy="304800"/>
          </a:xfrm>
          <a:prstGeom prst="roundRect">
            <a:avLst>
              <a:gd name="adj" fmla="val 16667"/>
            </a:avLst>
          </a:prstGeom>
          <a:solidFill>
            <a:srgbClr val="1F5F5B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9829800" y="2959100"/>
            <a:ext cx="88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198</a:t>
            </a:r>
            <a:endParaRPr lang="ko-KR" alt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717800" y="3378200"/>
            <a:ext cx="866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고조선 8조법부터 삼국·고려·조선·개항기·일제 강점기까지 시대 순서로</a:t>
            </a:r>
            <a:endParaRPr lang="ko-KR" alt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12800" y="38989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고등부</a:t>
            </a:r>
            <a:endParaRPr lang="ko-KR" alt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12800" y="42672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주관식</a:t>
            </a:r>
            <a:endParaRPr lang="ko-KR" alt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17800" y="3886200"/>
            <a:ext cx="3771900" cy="304800"/>
          </a:xfrm>
          <a:prstGeom prst="roundRect">
            <a:avLst>
              <a:gd name="adj" fmla="val 16667"/>
            </a:avLst>
          </a:prstGeom>
          <a:solidFill>
            <a:srgbClr val="2F6B3A"/>
          </a:solidFill>
          <a:ln/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616700" y="3848100"/>
            <a:ext cx="88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107</a:t>
            </a:r>
            <a:endParaRPr lang="ko-KR" alt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2717800" y="4267200"/>
            <a:ext cx="866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보기 없이 답을 직접 써서 내고, 문제마다 정한 다른 이름도 정답으로 인정</a:t>
            </a:r>
            <a:endParaRPr lang="ko-KR" alt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12800" y="49276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매 판 10문제를 무작위로 뽑고, </a:t>
            </a:r>
            <a:r>
              <a:rPr lang="ko-KR" altLang="en-US" sz="14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그 단계의 문제를 한 바퀴 다 돌 때까지 같은 문제가 다시 나오지 않습니다.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07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02 · 프로젝트 소개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‘공부’가 아니라 ‘놀이’가 되도록</a:t>
            </a:r>
            <a:endParaRPr lang="ko-KR" alt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2032000"/>
            <a:ext cx="3416300" cy="1549400"/>
          </a:xfrm>
          <a:prstGeom prst="roundRect">
            <a:avLst>
              <a:gd name="adj" fmla="val 4918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12800" y="2032000"/>
            <a:ext cx="63500" cy="1549400"/>
          </a:xfrm>
          <a:prstGeom prst="rect">
            <a:avLst/>
          </a:prstGeom>
          <a:solidFill>
            <a:srgbClr val="B03A2B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092200" y="2235200"/>
            <a:ext cx="293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7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몸으로 고르는 정답</a:t>
            </a:r>
            <a:endParaRPr lang="ko-KR" alt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2200" y="2603500"/>
            <a:ext cx="2933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버튼 대신 캐릭터를 걸어 정답 자리로. 마당 전체가 답안지가 됩니다.</a:t>
            </a:r>
            <a:endParaRPr lang="ko-KR" alt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7850" y="2032000"/>
            <a:ext cx="3416300" cy="1549400"/>
          </a:xfrm>
          <a:prstGeom prst="roundRect">
            <a:avLst>
              <a:gd name="adj" fmla="val 4918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387850" y="2032000"/>
            <a:ext cx="63500" cy="1549400"/>
          </a:xfrm>
          <a:prstGeom prst="rect">
            <a:avLst/>
          </a:prstGeom>
          <a:solidFill>
            <a:srgbClr val="1F5F5B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667250" y="2235200"/>
            <a:ext cx="293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7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공정한 개인전</a:t>
            </a:r>
            <a:endParaRPr lang="ko-KR" alt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667250" y="2603500"/>
            <a:ext cx="2933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푸는 동안엔 내 캐릭터만 보여, 친구를 따라가지 않고 스스로 판단합니다.</a:t>
            </a:r>
            <a:endParaRPr lang="ko-KR" alt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62900" y="2032000"/>
            <a:ext cx="3416300" cy="1549400"/>
          </a:xfrm>
          <a:prstGeom prst="roundRect">
            <a:avLst>
              <a:gd name="adj" fmla="val 4918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962900" y="2032000"/>
            <a:ext cx="63500" cy="15494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42300" y="2235200"/>
            <a:ext cx="293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7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나만 보는 힌트</a:t>
            </a:r>
            <a:endParaRPr lang="ko-KR" alt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242300" y="2603500"/>
            <a:ext cx="2933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마당 구석 두루마리나 [힌트 보기]로, 막혀도 생각을 이어 갑니다.</a:t>
            </a:r>
            <a:endParaRPr lang="ko-KR" alt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2800" y="3733800"/>
            <a:ext cx="3416300" cy="1549400"/>
          </a:xfrm>
          <a:prstGeom prst="roundRect">
            <a:avLst>
              <a:gd name="adj" fmla="val 4918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12800" y="3733800"/>
            <a:ext cx="63500" cy="1549400"/>
          </a:xfrm>
          <a:prstGeom prst="rect">
            <a:avLst/>
          </a:prstGeom>
          <a:solidFill>
            <a:srgbClr val="B03A2B"/>
          </a:solidFill>
          <a:ln/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092200" y="3937000"/>
            <a:ext cx="293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7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빠른 결정 보너스</a:t>
            </a:r>
            <a:endParaRPr lang="ko-KR" alt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092200" y="4305300"/>
            <a:ext cx="2933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[여기로 결정!]을 빨리 누를수록 동점일 때 순위가 앞섭니다.</a:t>
            </a:r>
            <a:endParaRPr lang="ko-KR" alt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387850" y="3733800"/>
            <a:ext cx="3416300" cy="1549400"/>
          </a:xfrm>
          <a:prstGeom prst="roundRect">
            <a:avLst>
              <a:gd name="adj" fmla="val 4918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387850" y="3733800"/>
            <a:ext cx="63500" cy="1549400"/>
          </a:xfrm>
          <a:prstGeom prst="rect">
            <a:avLst/>
          </a:prstGeom>
          <a:solidFill>
            <a:srgbClr val="1F5F5B"/>
          </a:solidFill>
          <a:ln/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667250" y="3937000"/>
            <a:ext cx="293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7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신분 칭호</a:t>
            </a:r>
            <a:endParaRPr lang="ko-KR" alt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4667250" y="4305300"/>
            <a:ext cx="2933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점수에 따라 천민 → 양민 → 평민 → 귀족 → 조선의 학자 → 왕.</a:t>
            </a:r>
            <a:endParaRPr lang="ko-KR" alt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962900" y="3733800"/>
            <a:ext cx="3416300" cy="1549400"/>
          </a:xfrm>
          <a:prstGeom prst="roundRect">
            <a:avLst>
              <a:gd name="adj" fmla="val 4918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962900" y="3733800"/>
            <a:ext cx="63500" cy="15494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8242300" y="3937000"/>
            <a:ext cx="293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7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 판 더</a:t>
            </a:r>
            <a:endParaRPr lang="ko-KR" alt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8242300" y="4305300"/>
            <a:ext cx="2933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새 문제로 바로 이어 하고, 끝난 뒤엔 학생들을 새 방으로 다시 부릅니다.</a:t>
            </a:r>
            <a:endParaRPr lang="ko-KR" alt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08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02 · 프로젝트 소개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어떻게 만들었나</a:t>
            </a:r>
            <a:endParaRPr lang="ko-KR" alt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1816100"/>
            <a:ext cx="1056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무료 플랜만으로 가볍게 운영할 수 있는 구조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800" y="2349500"/>
            <a:ext cx="3384550" cy="2222500"/>
          </a:xfrm>
          <a:prstGeom prst="roundRect">
            <a:avLst>
              <a:gd name="adj" fmla="val 3429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066800" y="26035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1F5F5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화면</a:t>
            </a:r>
            <a:endParaRPr lang="ko-KR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66800" y="2933700"/>
            <a:ext cx="287655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4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Vercel</a:t>
            </a:r>
            <a:endParaRPr lang="ko-KR" alt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66800" y="3441700"/>
            <a:ext cx="28765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HTML·CSS·JavaScript로 만든 세 화면. GitHub에 올리면 자동 배포됩니다.</a:t>
            </a:r>
            <a:endParaRPr lang="ko-KR" alt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00550" y="2349500"/>
            <a:ext cx="3384550" cy="2222500"/>
          </a:xfrm>
          <a:prstGeom prst="roundRect">
            <a:avLst>
              <a:gd name="adj" fmla="val 3429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654550" y="26035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1F5F5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실시간 데이터</a:t>
            </a:r>
            <a:endParaRPr lang="ko-KR" alt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654550" y="2933700"/>
            <a:ext cx="287655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4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Supabase</a:t>
            </a:r>
            <a:endParaRPr lang="ko-KR" alt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54550" y="3441700"/>
            <a:ext cx="28765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방·참가자·위치·점수를 실시간으로 주고받고, 잠금 규칙(RLS)으로 데이터를 보호합니다.</a:t>
            </a:r>
            <a:endParaRPr lang="ko-KR" alt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88300" y="2349500"/>
            <a:ext cx="3384550" cy="2222500"/>
          </a:xfrm>
          <a:prstGeom prst="roundRect">
            <a:avLst>
              <a:gd name="adj" fmla="val 3429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42300" y="26035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300" b="1" dirty="0">
                <a:solidFill>
                  <a:srgbClr val="1F5F5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품질 검증</a:t>
            </a:r>
            <a:endParaRPr lang="ko-KR" alt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42300" y="2933700"/>
            <a:ext cx="287655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4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자동 테스트</a:t>
            </a:r>
            <a:endParaRPr lang="ko-KR" alt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242300" y="3441700"/>
            <a:ext cx="28765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SQL 테스트와 브라우저(Playwright) 테스트를 GitHub Actions로 매번 확인합니다.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12800" y="4775200"/>
            <a:ext cx="10566400" cy="762000"/>
          </a:xfrm>
          <a:prstGeom prst="rect">
            <a:avLst/>
          </a:prstGeom>
          <a:solidFill>
            <a:srgbClr val="ECE1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문제는 data/questions.json 한 파일로 관리 — 선생님도 텍스트 편집기로 쉽게 고치고 늘릴 수 있습니다.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09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03 · 목적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81100"/>
            <a:ext cx="1056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3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역사를 외우는 과목에서,</a:t>
            </a:r>
            <a:endParaRPr lang="ko-KR" altLang="en-US" sz="3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32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친구와 함께 몸으로 겨루며 알아가는 경험으로</a:t>
            </a:r>
            <a:endParaRPr lang="ko-KR" alt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2800" y="2603500"/>
            <a:ext cx="3384550" cy="2540000"/>
          </a:xfrm>
          <a:prstGeom prst="roundRect">
            <a:avLst>
              <a:gd name="adj" fmla="val 3000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12800" y="2603500"/>
            <a:ext cx="3384550" cy="63500"/>
          </a:xfrm>
          <a:prstGeom prst="rect">
            <a:avLst/>
          </a:prstGeom>
          <a:solidFill>
            <a:srgbClr val="B03A2B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066800" y="2882900"/>
            <a:ext cx="287655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B03A2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흥미</a:t>
            </a:r>
            <a:endParaRPr lang="ko-KR" alt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066800" y="3530600"/>
            <a:ext cx="2876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8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역사에 대한 첫 호기심</a:t>
            </a:r>
            <a:endParaRPr lang="ko-KR" alt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66800" y="3937000"/>
            <a:ext cx="28765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게임의 긴장감과 즉각적인 순위로, 역사를 ‘해 보고 싶은 것’으로 바꿉니다.</a:t>
            </a:r>
            <a:endParaRPr lang="ko-KR" alt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00550" y="2603500"/>
            <a:ext cx="3384550" cy="2540000"/>
          </a:xfrm>
          <a:prstGeom prst="roundRect">
            <a:avLst>
              <a:gd name="adj" fmla="val 3000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400550" y="2603500"/>
            <a:ext cx="3384550" cy="63500"/>
          </a:xfrm>
          <a:prstGeom prst="rect">
            <a:avLst/>
          </a:prstGeom>
          <a:solidFill>
            <a:srgbClr val="1F5F5B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654550" y="2882900"/>
            <a:ext cx="287655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1F5F5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맞춤</a:t>
            </a:r>
            <a:endParaRPr lang="ko-KR" alt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654550" y="3530600"/>
            <a:ext cx="2876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8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수준별 학습</a:t>
            </a:r>
            <a:endParaRPr lang="ko-KR" alt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54550" y="3937000"/>
            <a:ext cx="28765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초·중·고 3단계와 O/X·객관식·주관식으로 누구나 자기 눈높이에서 도전합니다.</a:t>
            </a:r>
            <a:endParaRPr lang="ko-KR" alt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988300" y="2603500"/>
            <a:ext cx="3384550" cy="2540000"/>
          </a:xfrm>
          <a:prstGeom prst="roundRect">
            <a:avLst>
              <a:gd name="adj" fmla="val 3000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988300" y="2603500"/>
            <a:ext cx="3384550" cy="635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42300" y="2882900"/>
            <a:ext cx="287655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D9A441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함께</a:t>
            </a:r>
            <a:endParaRPr lang="ko-KR" alt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8242300" y="3530600"/>
            <a:ext cx="2876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8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같이 참여하는 배움</a:t>
            </a:r>
            <a:endParaRPr lang="ko-KR" alt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42300" y="3937000"/>
            <a:ext cx="28765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최대 30명이 한 마당에서 동시에. 혼자 푸는 문제집이 아니라 함께 겨루는 놀이입니다.</a:t>
            </a:r>
            <a:endParaRPr lang="ko-KR" alt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10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04 · 의의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이 프로젝트가 갖는 의미</a:t>
            </a:r>
            <a:endParaRPr lang="ko-KR" alt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81200"/>
            <a:ext cx="5156200" cy="368300"/>
          </a:xfrm>
          <a:prstGeom prst="roundRect">
            <a:avLst>
              <a:gd name="adj" fmla="val 13793"/>
            </a:avLst>
          </a:prstGeom>
          <a:solidFill>
            <a:srgbClr val="B03A2B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965200" y="1981200"/>
            <a:ext cx="4851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교육적 의의</a:t>
            </a:r>
            <a:endParaRPr lang="ko-KR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2438400"/>
            <a:ext cx="5156200" cy="1041400"/>
          </a:xfrm>
          <a:prstGeom prst="roundRect">
            <a:avLst>
              <a:gd name="adj" fmla="val 731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65200" y="2578100"/>
            <a:ext cx="485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틀린 순간이 배우는 순간</a:t>
            </a:r>
            <a:endParaRPr lang="ko-KR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5200" y="28956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정답 공개 직후 해설이 이어져, 오답이 곧바로 올바른 지식으로 바뀝니다.</a:t>
            </a:r>
            <a:endParaRPr lang="ko-KR" alt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2800" y="3556000"/>
            <a:ext cx="5156200" cy="1041400"/>
          </a:xfrm>
          <a:prstGeom prst="roundRect">
            <a:avLst>
              <a:gd name="adj" fmla="val 731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965200" y="3695700"/>
            <a:ext cx="485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역사를 체험하는 장치</a:t>
            </a:r>
            <a:endParaRPr lang="ko-KR" alt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5200" y="40132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마당, 저고리, 훈장님, 신분 칭호로 시대의 분위기를 자연스럽게 느낍니다.</a:t>
            </a:r>
            <a:endParaRPr lang="ko-KR" alt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800" y="4673600"/>
            <a:ext cx="5156200" cy="1041400"/>
          </a:xfrm>
          <a:prstGeom prst="roundRect">
            <a:avLst>
              <a:gd name="adj" fmla="val 731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965200" y="4813300"/>
            <a:ext cx="485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스스로 생각하는 힘</a:t>
            </a:r>
            <a:endParaRPr lang="ko-KR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5200" y="51308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개인전과 힌트 구조로, 정답을 따라가지 않고 직접 추론하게 합니다.</a:t>
            </a:r>
            <a:endParaRPr lang="ko-KR" alt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23000" y="1981200"/>
            <a:ext cx="5156200" cy="368300"/>
          </a:xfrm>
          <a:prstGeom prst="roundRect">
            <a:avLst>
              <a:gd name="adj" fmla="val 13793"/>
            </a:avLst>
          </a:prstGeom>
          <a:solidFill>
            <a:srgbClr val="1F5F5B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375400" y="1981200"/>
            <a:ext cx="4851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사회적 의의</a:t>
            </a:r>
            <a:endParaRPr lang="ko-KR" alt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23000" y="2438400"/>
            <a:ext cx="5156200" cy="1041400"/>
          </a:xfrm>
          <a:prstGeom prst="roundRect">
            <a:avLst>
              <a:gd name="adj" fmla="val 731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375400" y="2578100"/>
            <a:ext cx="485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젊은 세대의 역사 인식 공백</a:t>
            </a:r>
            <a:endParaRPr lang="ko-KR" alt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375400" y="28956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광복절의 의미를 다 아는 30대는 72.4%, 60대는 92.5%. 어릴 때부터 놀이로 역사를 익혀야 합니다.</a:t>
            </a:r>
            <a:endParaRPr lang="ko-KR" alt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23000" y="3556000"/>
            <a:ext cx="5156200" cy="1041400"/>
          </a:xfrm>
          <a:prstGeom prst="roundRect">
            <a:avLst>
              <a:gd name="adj" fmla="val 731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6375400" y="3695700"/>
            <a:ext cx="485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계속되는 교과서 역사 왜곡</a:t>
            </a:r>
            <a:endParaRPr lang="ko-KR" alt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375400" y="40132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일본 교과서는 2026년에도 독도·강제동원을 왜곡했습니다. 해설과 함께 정확한 사실을 익히게 합니다.</a:t>
            </a:r>
            <a:endParaRPr lang="ko-KR" alt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23000" y="4673600"/>
            <a:ext cx="5156200" cy="1041400"/>
          </a:xfrm>
          <a:prstGeom prst="roundRect">
            <a:avLst>
              <a:gd name="adj" fmla="val 7317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375400" y="4813300"/>
            <a:ext cx="485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5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왜곡을 가려내는 눈</a:t>
            </a:r>
            <a:endParaRPr lang="ko-KR" alt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375400" y="51308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인기 드라마도 고증 오류로 ‘동북공정 빌미’라는 비판을 받았습니다. 직접 풀며 쌓은 지식이 기준이 됩니다.</a:t>
            </a:r>
            <a:endParaRPr lang="ko-KR" alt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11 / 14</a:t>
            </a:r>
            <a:endParaRPr lang="ko-KR" altLang="en-US" sz="1200" dirty="0"/>
          </a:p>
        </p:txBody>
      </p:sp>
      <p:sp>
        <p:nvSpPr>
          <p:cNvPr id="28" name="출처"/>
          <p:cNvSpPr txBox="1"/>
          <p:nvPr/>
        </p:nvSpPr>
        <p:spPr>
          <a:xfrm>
            <a:off x="5029200" y="6235700"/>
            <a:ext cx="635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출처: 디지털타임스(2025.8.13) · 뉴시스(2026.3.25) · 경향신문(2026.5.19)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04 · 의의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현장에서 멈추지 않도록</a:t>
            </a:r>
            <a:endParaRPr lang="ko-KR" alt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06600"/>
          <a:ext cx="10566400" cy="2755900"/>
        </p:xfrm>
        <a:graphic>
          <a:graphicData uri="http://schemas.openxmlformats.org/drawingml/2006/table">
            <a:tbl>
              <a:tblPr/>
              <a:tblGrid>
                <a:gridCol w="35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b="1" dirty="0">
                          <a:solidFill>
                            <a:srgbClr val="675B4C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이런 상황에서도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b="1" dirty="0">
                          <a:solidFill>
                            <a:srgbClr val="675B4C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이렇게 이어집니다</a:t>
                      </a:r>
                      <a:endParaRPr lang="ko-KR" alt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학생이 새로고침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1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같은 기기면 이름·점수·정해 둔 자리까지 그대로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1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와이파이가 잠깐 끊김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다시 연결되면 저절로 이어짐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진행자 화면이 멈춤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1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채점은 학생 화면이 대신 불러 결과가 똑같음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1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중간에 들어온 학생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다음 문제부터 함께 풂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시간이 모자람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1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[강제 종료] → 최종 순위와 새 방, 이전 학생 다시 부르기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CE1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인터넷이 아예 안 됨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2A241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/solo 로 한 명씩 돌아가며 진행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2800" y="5016500"/>
            <a:ext cx="1056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1F5F5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게임마다 날짜·단계·인원·평균 점수가 자동으로 쌓여 부스 보고서에 바로 쓸 수 있습니다.</a:t>
            </a:r>
            <a:endParaRPr lang="ko-KR" alt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12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b="1" dirty="0">
                <a:solidFill>
                  <a:srgbClr val="B03A2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05 · 기대 효과</a:t>
            </a:r>
            <a:endParaRPr lang="ko-KR" alt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430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부스를 떠난 뒤에도 남는 것</a:t>
            </a:r>
            <a:endParaRPr lang="ko-KR" alt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2032000"/>
            <a:ext cx="3384550" cy="2984500"/>
          </a:xfrm>
          <a:prstGeom prst="roundRect">
            <a:avLst>
              <a:gd name="adj" fmla="val 2553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12800" y="2032000"/>
            <a:ext cx="3384550" cy="76200"/>
          </a:xfrm>
          <a:prstGeom prst="rect">
            <a:avLst/>
          </a:prstGeom>
          <a:solidFill>
            <a:srgbClr val="B03A2B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066800" y="2336800"/>
            <a:ext cx="287655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400" b="1" dirty="0">
                <a:solidFill>
                  <a:srgbClr val="B03A2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학생</a:t>
            </a:r>
            <a:endParaRPr lang="ko-KR" alt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66800" y="2857500"/>
            <a:ext cx="287655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역사를 ‘재미있는 것’으로 기억하는 첫 경험</a:t>
            </a:r>
            <a:endParaRPr lang="ko-KR" altLang="en-US" sz="1400" dirty="0"/>
          </a:p>
          <a:p>
            <a:pPr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짧은 시간에 핵심 사건·인물을 해설과 함께 익힘</a:t>
            </a:r>
            <a:endParaRPr lang="ko-KR" altLang="en-US" sz="1400" dirty="0"/>
          </a:p>
          <a:p>
            <a:pPr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친구와 겨루며 생기는 자연스러운 복습 동기</a:t>
            </a:r>
            <a:endParaRPr lang="ko-KR" alt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0550" y="2032000"/>
            <a:ext cx="3384550" cy="2984500"/>
          </a:xfrm>
          <a:prstGeom prst="roundRect">
            <a:avLst>
              <a:gd name="adj" fmla="val 2553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400550" y="2032000"/>
            <a:ext cx="3384550" cy="76200"/>
          </a:xfrm>
          <a:prstGeom prst="rect">
            <a:avLst/>
          </a:prstGeom>
          <a:solidFill>
            <a:srgbClr val="1F5F5B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654550" y="2336800"/>
            <a:ext cx="287655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400" b="1" dirty="0">
                <a:solidFill>
                  <a:srgbClr val="1F5F5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진행자·교사</a:t>
            </a:r>
            <a:endParaRPr lang="ko-KR" alt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654550" y="2857500"/>
            <a:ext cx="287655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설치·준비 없이 QR 하나로 바로 운영</a:t>
            </a:r>
            <a:endParaRPr lang="ko-KR" altLang="en-US" sz="1400" dirty="0"/>
          </a:p>
          <a:p>
            <a:pPr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학년별 난이도 선택으로 누구에게나 대응</a:t>
            </a:r>
            <a:endParaRPr lang="ko-KR" altLang="en-US" sz="1400" dirty="0"/>
          </a:p>
          <a:p>
            <a:pPr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참여 인원·평균 점수 기록으로 보고 간편</a:t>
            </a:r>
            <a:endParaRPr lang="ko-KR" alt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88300" y="2032000"/>
            <a:ext cx="3384550" cy="2984500"/>
          </a:xfrm>
          <a:prstGeom prst="roundRect">
            <a:avLst>
              <a:gd name="adj" fmla="val 2553"/>
            </a:avLst>
          </a:prstGeom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988300" y="2032000"/>
            <a:ext cx="3384550" cy="762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42300" y="2336800"/>
            <a:ext cx="287655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400" b="1" dirty="0">
                <a:solidFill>
                  <a:srgbClr val="D9A441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확장성</a:t>
            </a:r>
            <a:endParaRPr lang="ko-KR" alt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242300" y="2857500"/>
            <a:ext cx="287655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문제 파일만 바꾸면 다른 주제로도 응용</a:t>
            </a:r>
            <a:endParaRPr lang="ko-KR" altLang="en-US" sz="1400" dirty="0"/>
          </a:p>
          <a:p>
            <a:pPr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수업, 방과후, 행사 등 다양한 현장 활용</a:t>
            </a:r>
            <a:endParaRPr lang="ko-KR" altLang="en-US" sz="1400" dirty="0"/>
          </a:p>
          <a:p>
            <a:pPr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무료 플랜만으로 운영 가능한 가벼운 구조</a:t>
            </a:r>
            <a:endParaRPr lang="ko-KR" alt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한옥 마당 한국사 퀴즈 · 13 / 14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1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단청 띠 장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2095500"/>
            <a:ext cx="67564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40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역사를 외우는 대신,</a:t>
            </a:r>
            <a:endParaRPr lang="ko-KR" alt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4000" b="1" dirty="0">
                <a:solidFill>
                  <a:srgbClr val="B03A2B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마당에서 함께 뛰며 배웁니다.</a:t>
            </a:r>
            <a:endParaRPr lang="ko-KR" alt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3746500"/>
            <a:ext cx="675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2800" b="1" dirty="0">
                <a:solidFill>
                  <a:srgbClr val="2A241D"/>
                </a:solidFill>
                <a:latin typeface="Batang" pitchFamily="34" charset="0"/>
                <a:ea typeface="Batang" pitchFamily="34" charset="-127"/>
                <a:cs typeface="Batang" pitchFamily="34" charset="-120"/>
              </a:rPr>
              <a:t>감사합니다</a:t>
            </a:r>
            <a:endParaRPr lang="ko-KR" alt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4419600"/>
            <a:ext cx="675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github.com/samseongkkum-bit/kor-history</a:t>
            </a:r>
            <a:endParaRPr lang="ko-KR" alt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077200" y="1479550"/>
            <a:ext cx="3302000" cy="3898900"/>
          </a:xfrm>
          <a:prstGeom prst="roundRect">
            <a:avLst>
              <a:gd name="adj" fmla="val 4615"/>
            </a:avLst>
          </a:prstGeom>
          <a:solidFill>
            <a:srgbClr val="F6EFE1"/>
          </a:solidFill>
          <a:ln w="12700">
            <a:solidFill>
              <a:srgbClr val="C9B994"/>
            </a:solidFill>
            <a:prstDash val="solid"/>
          </a:ln>
        </p:spPr>
        <p:txBody>
          <a:bodyPr/>
          <a:p/>
        </p:txBody>
      </p:sp>
      <p:pic>
        <p:nvPicPr>
          <p:cNvPr id="7" name="Image 1" descr="학생 화면 kor-history.vercel.app/play 로 가는 QR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00" y="1733550"/>
            <a:ext cx="2667000" cy="2667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77200" y="4527550"/>
            <a:ext cx="330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1500" b="1" dirty="0">
                <a:solidFill>
                  <a:srgbClr val="2A241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학생으로 직접 해 보기</a:t>
            </a:r>
            <a:endParaRPr lang="ko-KR" alt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077200" y="4870450"/>
            <a:ext cx="33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675B4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kor-history.vercel.app/play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tang"/>
        <a:ea typeface="Batang"/>
        <a:cs typeface=""/>
        <a:font script="Jpan" typeface="游ゴシック Light"/>
        <a:font script="Hang" typeface="Malgun Gothi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Malgun Gothi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1136</Words>
  <Application>Microsoft Office PowerPoint</Application>
  <PresentationFormat>와이드스크린</PresentationFormat>
  <Paragraphs>197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맑은 고딕</vt:lpstr>
      <vt:lpstr>Batang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한옥 마당 한국사 퀴즈 — 서비스 소개</dc:title>
  <dc:subject>PptxGenJS Presentation</dc:subject>
  <dc:creator>PptxGenJS</dc:creator>
  <cp:lastModifiedBy>USER</cp:lastModifiedBy>
  <cp:revision>4</cp:revision>
  <dcterms:created xsi:type="dcterms:W3CDTF">2026-10-31T01:49:50Z</dcterms:created>
  <dcterms:modified xsi:type="dcterms:W3CDTF">2026-10-31T03:03:48Z</dcterms:modified>
</cp:coreProperties>
</file>